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8" r:id="rId20"/>
    <p:sldId id="267" r:id="rId19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rgbClr val="F3D0D0"/>
          </a:solidFill>
        </a:fill>
      </a:tcStyle>
    </a:wholeTbl>
    <a:band2H>
      <a:tcTxStyle b="def" i="def"/>
      <a:tcStyle>
        <a:tcBdr/>
        <a:fill>
          <a:solidFill>
            <a:srgbClr val="F9E9E9"/>
          </a:solidFill>
        </a:fill>
      </a:tcStyle>
    </a:band2H>
    <a:firstCol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381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381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rgbClr val="D9DBDC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381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381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rgbClr val="DCDCDD"/>
          </a:solidFill>
        </a:fill>
      </a:tcStyle>
    </a:wholeTbl>
    <a:band2H>
      <a:tcTxStyle b="def" i="def"/>
      <a:tcStyle>
        <a:tcBdr/>
        <a:fill>
          <a:solidFill>
            <a:srgbClr val="EEEEEF"/>
          </a:solidFill>
        </a:fill>
      </a:tcStyle>
    </a:band2H>
    <a:firstCol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381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381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lastRow>
    <a:firstRow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381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381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rgbClr val="E6E6E6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solidFill>
            <a:srgbClr val="E6E6E6">
              <a:alpha val="20000"/>
            </a:srgbClr>
          </a:solidFill>
        </a:fill>
      </a:tcStyle>
    </a:firstCol>
    <a:lastRow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50800" cap="flat">
              <a:solidFill>
                <a:srgbClr val="E6E6E6"/>
              </a:solidFill>
              <a:prstDash val="solid"/>
              <a:round/>
            </a:ln>
          </a:top>
          <a:bottom>
            <a:ln w="127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E6E6E6"/>
        </a:fontRef>
        <a:srgbClr val="E6E6E6"/>
      </a:tcTxStyle>
      <a:tcStyle>
        <a:tcBdr>
          <a:left>
            <a:ln w="12700" cap="flat">
              <a:solidFill>
                <a:srgbClr val="E6E6E6"/>
              </a:solidFill>
              <a:prstDash val="solid"/>
              <a:round/>
            </a:ln>
          </a:left>
          <a:right>
            <a:ln w="12700" cap="flat">
              <a:solidFill>
                <a:srgbClr val="E6E6E6"/>
              </a:solidFill>
              <a:prstDash val="solid"/>
              <a:round/>
            </a:ln>
          </a:right>
          <a:top>
            <a:ln w="12700" cap="flat">
              <a:solidFill>
                <a:srgbClr val="E6E6E6"/>
              </a:solidFill>
              <a:prstDash val="solid"/>
              <a:round/>
            </a:ln>
          </a:top>
          <a:bottom>
            <a:ln w="25400" cap="flat">
              <a:solidFill>
                <a:srgbClr val="E6E6E6"/>
              </a:solidFill>
              <a:prstDash val="solid"/>
              <a:round/>
            </a:ln>
          </a:bottom>
          <a:insideH>
            <a:ln w="12700" cap="flat">
              <a:solidFill>
                <a:srgbClr val="E6E6E6"/>
              </a:solidFill>
              <a:prstDash val="solid"/>
              <a:round/>
            </a:ln>
          </a:insideH>
          <a:insideV>
            <a:ln w="12700" cap="flat">
              <a:solidFill>
                <a:srgbClr val="E6E6E6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  <Relationship Id="rId19" Type="http://schemas.openxmlformats.org/officeDocument/2006/relationships/slide" Target="slides/slide12.xml"/>
  <Relationship Id="rId20" Type="http://schemas.openxmlformats.org/officeDocument/2006/relationships/slide" Target="slides/slide13.xml"/>
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000000"/>
        </a:solidFill>
        <a:latin typeface="+mn-lt"/>
        <a:ea typeface="+mn-ea"/>
        <a:cs typeface="+mn-cs"/>
        <a:sym typeface="Arial"/>
      </a:defRPr>
    </a:lvl1pPr>
    <a:lvl2pPr indent="228600" latinLnBrk="0">
      <a:defRPr sz="1200">
        <a:solidFill>
          <a:srgbClr val="000000"/>
        </a:solidFill>
        <a:latin typeface="+mn-lt"/>
        <a:ea typeface="+mn-ea"/>
        <a:cs typeface="+mn-cs"/>
        <a:sym typeface="Arial"/>
      </a:defRPr>
    </a:lvl2pPr>
    <a:lvl3pPr indent="457200" latinLnBrk="0">
      <a:defRPr sz="1200">
        <a:solidFill>
          <a:srgbClr val="000000"/>
        </a:solidFill>
        <a:latin typeface="+mn-lt"/>
        <a:ea typeface="+mn-ea"/>
        <a:cs typeface="+mn-cs"/>
        <a:sym typeface="Arial"/>
      </a:defRPr>
    </a:lvl3pPr>
    <a:lvl4pPr indent="685800" latinLnBrk="0">
      <a:defRPr sz="1200">
        <a:solidFill>
          <a:srgbClr val="000000"/>
        </a:solidFill>
        <a:latin typeface="+mn-lt"/>
        <a:ea typeface="+mn-ea"/>
        <a:cs typeface="+mn-cs"/>
        <a:sym typeface="Arial"/>
      </a:defRPr>
    </a:lvl4pPr>
    <a:lvl5pPr indent="914400" latinLnBrk="0">
      <a:defRPr sz="1200">
        <a:solidFill>
          <a:srgbClr val="000000"/>
        </a:solidFill>
        <a:latin typeface="+mn-lt"/>
        <a:ea typeface="+mn-ea"/>
        <a:cs typeface="+mn-cs"/>
        <a:sym typeface="Arial"/>
      </a:defRPr>
    </a:lvl5pPr>
    <a:lvl6pPr indent="1143000" latinLnBrk="0">
      <a:defRPr sz="1200">
        <a:solidFill>
          <a:srgbClr val="000000"/>
        </a:solidFill>
        <a:latin typeface="+mn-lt"/>
        <a:ea typeface="+mn-ea"/>
        <a:cs typeface="+mn-cs"/>
        <a:sym typeface="Arial"/>
      </a:defRPr>
    </a:lvl6pPr>
    <a:lvl7pPr indent="1371600" latinLnBrk="0">
      <a:defRPr sz="1200">
        <a:solidFill>
          <a:srgbClr val="000000"/>
        </a:solidFill>
        <a:latin typeface="+mn-lt"/>
        <a:ea typeface="+mn-ea"/>
        <a:cs typeface="+mn-cs"/>
        <a:sym typeface="Arial"/>
      </a:defRPr>
    </a:lvl7pPr>
    <a:lvl8pPr indent="1600200" latinLnBrk="0">
      <a:defRPr sz="1200">
        <a:solidFill>
          <a:srgbClr val="000000"/>
        </a:solidFill>
        <a:latin typeface="+mn-lt"/>
        <a:ea typeface="+mn-ea"/>
        <a:cs typeface="+mn-cs"/>
        <a:sym typeface="Arial"/>
      </a:defRPr>
    </a:lvl8pPr>
    <a:lvl9pPr indent="1828800" latinLnBrk="0">
      <a:defRPr sz="1200">
        <a:solidFill>
          <a:srgbClr val="000000"/>
        </a:solidFill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xfrm>
            <a:off x="812800" y="812800"/>
            <a:ext cx="10566400" cy="44703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idx="1"/>
          </p:nvPr>
        </p:nvSpPr>
        <p:spPr>
          <a:xfrm>
            <a:off x="812800" y="1564632"/>
            <a:ext cx="10566400" cy="448056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E6E6E6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0" marR="0" indent="0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1pPr>
      <a:lvl2pPr marL="620485" marR="0" indent="-163285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6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2pPr>
      <a:lvl3pPr marL="1066800" marR="0" indent="-152400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3pPr>
      <a:lvl4pPr marL="1554480" marR="0" indent="-182880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6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4pPr>
      <a:lvl5pPr marL="20116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6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5pPr>
      <a:lvl6pPr marL="24688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6pPr>
      <a:lvl7pPr marL="29260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7pPr>
      <a:lvl8pPr marL="33832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8pPr>
      <a:lvl9pPr marL="38404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E6E6E6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>
            <p:ph type="title"/>
          </p:nvPr>
        </p:nvSpPr>
        <p:spPr>
          <a:xfrm>
            <a:off x="812800" y="1743150"/>
            <a:ext cx="5598668" cy="2148721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4100"/>
              </a:lnSpc>
              <a:defRPr b="1" sz="3800"/>
            </a:pPr>
            <a:r>
              <a:t>Информационная безопасность и риски в финансах: торговля </a:t>
            </a:r>
            <a:r>
              <a:rPr>
                <a:solidFill>
                  <a:srgbClr val="D9A441"/>
                </a:solidFill>
              </a:rPr>
              <a:t>XAUUSD</a:t>
            </a:r>
          </a:p>
        </p:txBody>
      </p:sp>
      <p:sp>
        <p:nvSpPr>
          <p:cNvPr id="30" name="Text 1"/>
          <p:cNvSpPr txBox="1"/>
          <p:nvPr/>
        </p:nvSpPr>
        <p:spPr>
          <a:xfrm>
            <a:off x="812800" y="4069669"/>
            <a:ext cx="5598668" cy="867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700">
                <a:solidFill>
                  <a:schemeClr val="accent4"/>
                </a:solidFill>
              </a:defRPr>
            </a:lvl1pPr>
          </a:lstStyle>
          <a:p>
            <a:pPr/>
            <a:r>
              <a:t>Риски транзакций, новости и доллар, разбор падения золота в октябре 2026, оценка потерь (SLE, ARO, ALE) и сравнение с EUR/USD</a:t>
            </a:r>
          </a:p>
        </p:txBody>
      </p:sp>
      <p:pic>
        <p:nvPicPr>
          <p:cNvPr id="3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53200" y="1517650"/>
            <a:ext cx="4826000" cy="3619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 txBox="1"/>
          <p:nvPr>
            <p:ph type="title"/>
          </p:nvPr>
        </p:nvSpPr>
        <p:spPr>
          <a:xfrm>
            <a:off x="812799" y="812800"/>
            <a:ext cx="10883394" cy="472432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b="1"/>
            </a:lvl1pPr>
          </a:lstStyle>
          <a:p>
            <a:pPr/>
            <a:r>
              <a:t>Что такое XAUUSD</a:t>
            </a:r>
          </a:p>
        </p:txBody>
      </p:sp>
      <p:sp>
        <p:nvSpPr>
          <p:cNvPr id="34" name="Text 1"/>
          <p:cNvSpPr txBox="1"/>
          <p:nvPr/>
        </p:nvSpPr>
        <p:spPr>
          <a:xfrm>
            <a:off x="889888" y="1488432"/>
            <a:ext cx="5906391" cy="2840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76911" indent="-176911">
              <a:lnSpc>
                <a:spcPts val="2000"/>
              </a:lnSpc>
              <a:buSzPct val="100000"/>
              <a:buChar char="•"/>
              <a:defRPr b="1" sz="1500">
                <a:solidFill>
                  <a:srgbClr val="D9A441"/>
                </a:solidFill>
              </a:defRPr>
            </a:pPr>
            <a:r>
              <a:t>XAUUSD</a:t>
            </a:r>
            <a:r>
              <a:rPr b="0">
                <a:solidFill>
                  <a:srgbClr val="E6E6E6"/>
                </a:solidFill>
              </a:rPr>
              <a:t> это котировка одной тройской унции золота в долларах США. Торгуется как CFD или спот на Forex, физического золота трейдер не получает.</a:t>
            </a:r>
            <a:endParaRPr>
              <a:solidFill>
                <a:srgbClr val="E6E6E6"/>
              </a:solidFill>
            </a:endParaRPr>
          </a:p>
          <a:p>
            <a:pPr marL="176911" indent="-176911">
              <a:lnSpc>
                <a:spcPts val="2000"/>
              </a:lnSpc>
              <a:buSzPct val="100000"/>
              <a:buChar char="•"/>
              <a:defRPr sz="1500">
                <a:solidFill>
                  <a:srgbClr val="E6E6E6"/>
                </a:solidFill>
              </a:defRPr>
            </a:pPr>
            <a:r>
              <a:t>Золото считается защитным активом: в кризисы и при высокой инфляции инвестиции часто уходят в него.</a:t>
            </a:r>
          </a:p>
          <a:p>
            <a:pPr marL="176911" indent="-176911">
              <a:lnSpc>
                <a:spcPts val="2000"/>
              </a:lnSpc>
              <a:buSzPct val="100000"/>
              <a:buChar char="•"/>
              <a:defRPr sz="1500">
                <a:solidFill>
                  <a:srgbClr val="E6E6E6"/>
                </a:solidFill>
              </a:defRPr>
            </a:pPr>
            <a:r>
              <a:t>С долларом связано обратной зависимостью: сильный USD давит на золото, слабый поддерживает.</a:t>
            </a:r>
          </a:p>
          <a:p>
            <a:pPr marL="176911" indent="-176911">
              <a:lnSpc>
                <a:spcPts val="2000"/>
              </a:lnSpc>
              <a:buSzPct val="100000"/>
              <a:buChar char="•"/>
              <a:defRPr sz="1500">
                <a:solidFill>
                  <a:srgbClr val="E6E6E6"/>
                </a:solidFill>
              </a:defRPr>
            </a:pPr>
            <a:r>
              <a:t>Торговля идёт с </a:t>
            </a:r>
            <a:r>
              <a:rPr b="1">
                <a:solidFill>
                  <a:srgbClr val="D9A441"/>
                </a:solidFill>
              </a:rPr>
              <a:t>плечом</a:t>
            </a:r>
            <a:r>
              <a:t>, поэтому ошибка, взлом или проскальзывание быстро съедают депозит.</a:t>
            </a:r>
          </a:p>
          <a:p>
            <a:pPr marL="176911" indent="-176911">
              <a:lnSpc>
                <a:spcPts val="2000"/>
              </a:lnSpc>
              <a:buSzPct val="100000"/>
              <a:buChar char="•"/>
              <a:defRPr sz="1500">
                <a:solidFill>
                  <a:srgbClr val="E6E6E6"/>
                </a:solidFill>
              </a:defRPr>
            </a:pPr>
            <a:r>
              <a:t>Применение: спекуляции, хеджирование инфляции и валютных рисков, диверсификация портфеля.</a:t>
            </a:r>
          </a:p>
        </p:txBody>
      </p:sp>
      <p:pic>
        <p:nvPicPr>
          <p:cNvPr id="3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34200" y="1488432"/>
            <a:ext cx="4445000" cy="33337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 txBox="1"/>
          <p:nvPr>
            <p:ph type="title"/>
          </p:nvPr>
        </p:nvSpPr>
        <p:spPr>
          <a:xfrm>
            <a:off x="812799" y="812800"/>
            <a:ext cx="10883394" cy="472432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b="1"/>
            </a:lvl1pPr>
          </a:lstStyle>
          <a:p>
            <a:pPr/>
            <a:r>
              <a:t>Риски при совершении транзакций</a:t>
            </a:r>
          </a:p>
        </p:txBody>
      </p:sp>
      <p:pic>
        <p:nvPicPr>
          <p:cNvPr id="3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2800" y="1488432"/>
            <a:ext cx="4445000" cy="3333751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ext 1"/>
          <p:cNvSpPr txBox="1"/>
          <p:nvPr/>
        </p:nvSpPr>
        <p:spPr>
          <a:xfrm>
            <a:off x="5639689" y="1488432"/>
            <a:ext cx="5906390" cy="2584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76911" indent="-176911">
              <a:lnSpc>
                <a:spcPts val="2000"/>
              </a:lnSpc>
              <a:buSzPct val="100000"/>
              <a:buChar char="•"/>
              <a:defRPr b="1" sz="1500">
                <a:solidFill>
                  <a:srgbClr val="D9A441"/>
                </a:solidFill>
              </a:defRPr>
            </a:pPr>
            <a:r>
              <a:t>Устройство:</a:t>
            </a:r>
            <a:r>
              <a:rPr b="0">
                <a:solidFill>
                  <a:srgbClr val="E6E6E6"/>
                </a:solidFill>
              </a:rPr>
              <a:t> кейлоггеры, трояны, поддельные советники для MT4/MT5.</a:t>
            </a:r>
            <a:endParaRPr>
              <a:solidFill>
                <a:srgbClr val="E6E6E6"/>
              </a:solidFill>
            </a:endParaRPr>
          </a:p>
          <a:p>
            <a:pPr marL="176911" indent="-176911">
              <a:lnSpc>
                <a:spcPts val="2000"/>
              </a:lnSpc>
              <a:buSzPct val="100000"/>
              <a:buChar char="•"/>
              <a:defRPr b="1" sz="1500">
                <a:solidFill>
                  <a:srgbClr val="D9A441"/>
                </a:solidFill>
              </a:defRPr>
            </a:pPr>
            <a:r>
              <a:t>Платформа:</a:t>
            </a:r>
            <a:r>
              <a:rPr b="0">
                <a:solidFill>
                  <a:srgbClr val="E6E6E6"/>
                </a:solidFill>
              </a:rPr>
              <a:t> фишинговые копии сайта брокера, перехват сессии, слабый пароль без 2FA.</a:t>
            </a:r>
            <a:endParaRPr>
              <a:solidFill>
                <a:srgbClr val="E6E6E6"/>
              </a:solidFill>
            </a:endParaRPr>
          </a:p>
          <a:p>
            <a:pPr marL="176911" indent="-176911">
              <a:lnSpc>
                <a:spcPts val="2000"/>
              </a:lnSpc>
              <a:buSzPct val="100000"/>
              <a:buChar char="•"/>
              <a:defRPr b="1" sz="1500">
                <a:solidFill>
                  <a:srgbClr val="D9A441"/>
                </a:solidFill>
              </a:defRPr>
            </a:pPr>
            <a:r>
              <a:t>Брокер:</a:t>
            </a:r>
            <a:r>
              <a:rPr b="0">
                <a:solidFill>
                  <a:srgbClr val="E6E6E6"/>
                </a:solidFill>
              </a:rPr>
              <a:t> нет лицензии, блокировка вывода, манипуляции котировками и спредом.</a:t>
            </a:r>
            <a:endParaRPr>
              <a:solidFill>
                <a:srgbClr val="E6E6E6"/>
              </a:solidFill>
            </a:endParaRPr>
          </a:p>
          <a:p>
            <a:pPr marL="176911" indent="-176911">
              <a:lnSpc>
                <a:spcPts val="2000"/>
              </a:lnSpc>
              <a:buSzPct val="100000"/>
              <a:buChar char="•"/>
              <a:defRPr b="1" sz="1500">
                <a:solidFill>
                  <a:srgbClr val="D9A441"/>
                </a:solidFill>
              </a:defRPr>
            </a:pPr>
            <a:r>
              <a:t>Вывод средств:</a:t>
            </a:r>
            <a:r>
              <a:rPr b="0">
                <a:solidFill>
                  <a:srgbClr val="E6E6E6"/>
                </a:solidFill>
              </a:rPr>
              <a:t> SIM-swap, подмена реквизитов, «поддержка» из мессенджера.</a:t>
            </a:r>
            <a:endParaRPr>
              <a:solidFill>
                <a:srgbClr val="E6E6E6"/>
              </a:solidFill>
            </a:endParaRPr>
          </a:p>
          <a:p>
            <a:pPr marL="176911" indent="-176911">
              <a:lnSpc>
                <a:spcPts val="2000"/>
              </a:lnSpc>
              <a:buSzPct val="100000"/>
              <a:buChar char="•"/>
              <a:defRPr b="1" sz="1500">
                <a:solidFill>
                  <a:srgbClr val="D9A441"/>
                </a:solidFill>
              </a:defRPr>
            </a:pPr>
            <a:r>
              <a:t>Человек:</a:t>
            </a:r>
            <a:r>
              <a:rPr b="0">
                <a:solidFill>
                  <a:srgbClr val="E6E6E6"/>
                </a:solidFill>
              </a:rPr>
              <a:t> ошибка в лоте, торговля на эмоциях, неверный реквизит.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 txBox="1"/>
          <p:nvPr>
            <p:ph type="title"/>
          </p:nvPr>
        </p:nvSpPr>
        <p:spPr>
          <a:xfrm>
            <a:off x="812799" y="812800"/>
            <a:ext cx="10883394" cy="472432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b="1"/>
            </a:lvl1pPr>
          </a:lstStyle>
          <a:p>
            <a:pPr/>
            <a:r>
              <a:t>Новости, влияющие на курс доллара</a:t>
            </a:r>
          </a:p>
        </p:txBody>
      </p:sp>
      <p:graphicFrame>
        <p:nvGraphicFramePr>
          <p:cNvPr id="42" name="Table 0"/>
          <p:cNvGraphicFramePr/>
          <p:nvPr/>
        </p:nvGraphicFramePr>
        <p:xfrm>
          <a:off x="824894" y="1500527"/>
          <a:ext cx="5804506" cy="294383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902252"/>
                <a:gridCol w="2902252"/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D9A441"/>
                          </a:solidFill>
                        </a:rPr>
                        <a:t>Событие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5A5B5D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5A5B5D"/>
                      </a:solidFill>
                    </a:lnB>
                    <a:solidFill>
                      <a:srgbClr val="2D2F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D9A441"/>
                          </a:solidFill>
                        </a:rPr>
                        <a:t>Частота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5A5B5D"/>
                      </a:solidFill>
                    </a:lnL>
                    <a:lnR w="12700">
                      <a:solidFill>
                        <a:srgbClr val="5A5B5D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5A5B5D"/>
                      </a:solidFill>
                    </a:lnB>
                    <a:solidFill>
                      <a:srgbClr val="2D2F32"/>
                    </a:solidFill>
                  </a:tcPr>
                </a:tc>
              </a:tr>
              <a:tr h="70545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Решение ФРС по ставке (FOMC)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8 раз в год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Non-Farm Payrolls, рынок труда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ежемесячно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Инфляция CPI и PCE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ежемесячно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Выступления главы ФРС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регулярно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Геополитика, цены на нефть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нерегулярно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3" name="Text 1"/>
          <p:cNvSpPr txBox="1"/>
          <p:nvPr/>
        </p:nvSpPr>
        <p:spPr>
          <a:xfrm>
            <a:off x="812799" y="4584058"/>
            <a:ext cx="5991100" cy="94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b="1" sz="1400">
                <a:solidFill>
                  <a:schemeClr val="accent2"/>
                </a:solidFill>
              </a:defRPr>
            </a:pPr>
            <a:r>
              <a:t>Сильные данные</a:t>
            </a:r>
            <a:r>
              <a:rPr b="0">
                <a:solidFill>
                  <a:srgbClr val="E6E6E6"/>
                </a:solidFill>
              </a:rPr>
              <a:t> и жёсткая ФРС укрепляют USD и давят на золото. В кризисы они могут расти вместе. В момент выхода новости спред </a:t>
            </a:r>
            <a:r>
              <a:rPr>
                <a:solidFill>
                  <a:schemeClr val="accent1"/>
                </a:solidFill>
              </a:rPr>
              <a:t>расширяется</a:t>
            </a:r>
            <a:r>
              <a:rPr b="0">
                <a:solidFill>
                  <a:srgbClr val="E6E6E6"/>
                </a:solidFill>
              </a:rPr>
              <a:t>, цена прыгает, стопы исполняются с проскальзыванием.</a:t>
            </a:r>
          </a:p>
        </p:txBody>
      </p:sp>
      <p:pic>
        <p:nvPicPr>
          <p:cNvPr id="4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34200" y="1488432"/>
            <a:ext cx="4445000" cy="33337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 txBox="1"/>
          <p:nvPr>
            <p:ph type="title"/>
          </p:nvPr>
        </p:nvSpPr>
        <p:spPr>
          <a:xfrm>
            <a:off x="812799" y="812800"/>
            <a:ext cx="10883394" cy="472432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b="1"/>
            </a:lvl1pPr>
          </a:lstStyle>
          <a:p>
            <a:pPr/>
            <a:r>
              <a:t>Падение золота ниже $4 000, октябрь 2026</a:t>
            </a:r>
          </a:p>
        </p:txBody>
      </p:sp>
      <p:pic>
        <p:nvPicPr>
          <p:cNvPr id="4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2800" y="1488432"/>
            <a:ext cx="6350000" cy="3556001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Text 1"/>
          <p:cNvSpPr txBox="1"/>
          <p:nvPr/>
        </p:nvSpPr>
        <p:spPr>
          <a:xfrm>
            <a:off x="7467600" y="1686567"/>
            <a:ext cx="402894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4200"/>
              </a:lnSpc>
              <a:defRPr b="1" sz="3000">
                <a:solidFill>
                  <a:schemeClr val="accent1"/>
                </a:solidFill>
              </a:defRPr>
            </a:lvl1pPr>
          </a:lstStyle>
          <a:p>
            <a:pPr/>
            <a:r>
              <a:t>$3 986,50</a:t>
            </a:r>
          </a:p>
        </p:txBody>
      </p:sp>
      <p:sp>
        <p:nvSpPr>
          <p:cNvPr id="49" name="Text 2"/>
          <p:cNvSpPr txBox="1"/>
          <p:nvPr/>
        </p:nvSpPr>
        <p:spPr>
          <a:xfrm>
            <a:off x="7467600" y="2346967"/>
            <a:ext cx="4028948" cy="487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E6E6E6"/>
                </a:solidFill>
              </a:defRPr>
            </a:lvl1pPr>
          </a:lstStyle>
          <a:p>
            <a:pPr/>
            <a:r>
              <a:t>минимум 23 октября, золото впервые с середины июля ниже $4 000</a:t>
            </a:r>
          </a:p>
        </p:txBody>
      </p:sp>
      <p:sp>
        <p:nvSpPr>
          <p:cNvPr id="50" name="Text 3"/>
          <p:cNvSpPr txBox="1"/>
          <p:nvPr/>
        </p:nvSpPr>
        <p:spPr>
          <a:xfrm>
            <a:off x="7467600" y="2936232"/>
            <a:ext cx="402894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4200"/>
              </a:lnSpc>
              <a:defRPr b="1" sz="3000">
                <a:solidFill>
                  <a:schemeClr val="accent1"/>
                </a:solidFill>
              </a:defRPr>
            </a:lvl1pPr>
          </a:lstStyle>
          <a:p>
            <a:pPr/>
            <a:r>
              <a:t>−28,8%</a:t>
            </a:r>
          </a:p>
        </p:txBody>
      </p:sp>
      <p:sp>
        <p:nvSpPr>
          <p:cNvPr id="51" name="Text 4"/>
          <p:cNvSpPr txBox="1"/>
          <p:nvPr/>
        </p:nvSpPr>
        <p:spPr>
          <a:xfrm>
            <a:off x="7467600" y="3596633"/>
            <a:ext cx="4028948" cy="25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E6E6E6"/>
                </a:solidFill>
              </a:defRPr>
            </a:lvl1pPr>
          </a:lstStyle>
          <a:p>
            <a:pPr/>
            <a:r>
              <a:t>от рекорда $5 595 (28 января 2026)</a:t>
            </a:r>
          </a:p>
        </p:txBody>
      </p:sp>
      <p:sp>
        <p:nvSpPr>
          <p:cNvPr id="52" name="Text 5"/>
          <p:cNvSpPr txBox="1"/>
          <p:nvPr/>
        </p:nvSpPr>
        <p:spPr>
          <a:xfrm>
            <a:off x="7467600" y="3954765"/>
            <a:ext cx="402894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4200"/>
              </a:lnSpc>
              <a:defRPr b="1" sz="3000">
                <a:solidFill>
                  <a:schemeClr val="accent2"/>
                </a:solidFill>
              </a:defRPr>
            </a:lvl1pPr>
          </a:lstStyle>
          <a:p>
            <a:pPr/>
            <a:r>
              <a:t>$4 057</a:t>
            </a:r>
          </a:p>
        </p:txBody>
      </p:sp>
      <p:sp>
        <p:nvSpPr>
          <p:cNvPr id="53" name="Text 6"/>
          <p:cNvSpPr txBox="1"/>
          <p:nvPr/>
        </p:nvSpPr>
        <p:spPr>
          <a:xfrm>
            <a:off x="7467600" y="4615165"/>
            <a:ext cx="4028948" cy="25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E6E6E6"/>
                </a:solidFill>
              </a:defRPr>
            </a:lvl1pPr>
          </a:lstStyle>
          <a:p>
            <a:pPr/>
            <a:r>
              <a:t>отскок к 27 октября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 txBox="1"/>
          <p:nvPr>
            <p:ph type="title"/>
          </p:nvPr>
        </p:nvSpPr>
        <p:spPr>
          <a:xfrm>
            <a:off x="812799" y="812800"/>
            <a:ext cx="10883394" cy="472432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b="1"/>
            </a:lvl1pPr>
          </a:lstStyle>
          <a:p>
            <a:pPr/>
            <a:r>
              <a:t>Что вызвало падение</a:t>
            </a:r>
          </a:p>
        </p:txBody>
      </p:sp>
      <p:pic>
        <p:nvPicPr>
          <p:cNvPr id="5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2800" y="1488432"/>
            <a:ext cx="4445000" cy="3333751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Text 1"/>
          <p:cNvSpPr txBox="1"/>
          <p:nvPr/>
        </p:nvSpPr>
        <p:spPr>
          <a:xfrm>
            <a:off x="5653151" y="1488432"/>
            <a:ext cx="5892928" cy="24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63448" indent="-163448">
              <a:lnSpc>
                <a:spcPts val="1800"/>
              </a:lnSpc>
              <a:buSzPct val="100000"/>
              <a:buChar char="•"/>
              <a:defRPr b="1" sz="1400">
                <a:solidFill>
                  <a:srgbClr val="D9A441"/>
                </a:solidFill>
              </a:defRPr>
            </a:pPr>
            <a:r>
              <a:t>Нефть</a:t>
            </a:r>
            <a:r>
              <a:rPr b="0">
                <a:solidFill>
                  <a:srgbClr val="E6E6E6"/>
                </a:solidFill>
              </a:rPr>
              <a:t> около $102 из-за эскалации конфликта вокруг Ирана вернула страх инфляции.</a:t>
            </a:r>
            <a:endParaRPr>
              <a:solidFill>
                <a:srgbClr val="E6E6E6"/>
              </a:solidFill>
            </a:endParaRPr>
          </a:p>
          <a:p>
            <a:pPr marL="163448" indent="-163448">
              <a:lnSpc>
                <a:spcPts val="1800"/>
              </a:lnSpc>
              <a:buSzPct val="100000"/>
              <a:buChar char="•"/>
              <a:defRPr b="1" sz="1400">
                <a:solidFill>
                  <a:srgbClr val="D9A441"/>
                </a:solidFill>
              </a:defRPr>
            </a:pPr>
            <a:r>
              <a:t>Ставки:</a:t>
            </a:r>
            <a:r>
              <a:rPr b="0">
                <a:solidFill>
                  <a:srgbClr val="E6E6E6"/>
                </a:solidFill>
              </a:rPr>
              <a:t> рынок стал ждать, что ФРС удержит ставки высокими дольше, а золото не приносит процентов.</a:t>
            </a:r>
            <a:endParaRPr>
              <a:solidFill>
                <a:srgbClr val="E6E6E6"/>
              </a:solidFill>
            </a:endParaRPr>
          </a:p>
          <a:p>
            <a:pPr marL="163448" indent="-163448">
              <a:lnSpc>
                <a:spcPts val="1800"/>
              </a:lnSpc>
              <a:buSzPct val="100000"/>
              <a:buChar char="•"/>
              <a:defRPr b="1" sz="1400">
                <a:solidFill>
                  <a:srgbClr val="D9A441"/>
                </a:solidFill>
              </a:defRPr>
            </a:pPr>
            <a:r>
              <a:t>Техсектор:</a:t>
            </a:r>
            <a:r>
              <a:rPr b="0">
                <a:solidFill>
                  <a:srgbClr val="E6E6E6"/>
                </a:solidFill>
              </a:rPr>
              <a:t> 22 октября Meta потеряла 7%, Nasdaq показал сильнейшее дневное падение с июня.</a:t>
            </a:r>
            <a:endParaRPr>
              <a:solidFill>
                <a:srgbClr val="E6E6E6"/>
              </a:solidFill>
            </a:endParaRPr>
          </a:p>
          <a:p>
            <a:pPr marL="163448" indent="-163448">
              <a:lnSpc>
                <a:spcPts val="1800"/>
              </a:lnSpc>
              <a:buSzPct val="100000"/>
              <a:buChar char="•"/>
              <a:defRPr b="1" sz="1400">
                <a:solidFill>
                  <a:srgbClr val="D9A441"/>
                </a:solidFill>
              </a:defRPr>
            </a:pPr>
            <a:r>
              <a:t>Маржин-коллы:</a:t>
            </a:r>
            <a:r>
              <a:rPr b="0">
                <a:solidFill>
                  <a:srgbClr val="E6E6E6"/>
                </a:solidFill>
              </a:rPr>
              <a:t> инвесторы продавали золото, чтобы покрыть убытки в акциях.</a:t>
            </a:r>
            <a:endParaRPr>
              <a:solidFill>
                <a:srgbClr val="E6E6E6"/>
              </a:solidFill>
            </a:endParaRPr>
          </a:p>
          <a:p>
            <a:pPr marL="163448" indent="-163448">
              <a:lnSpc>
                <a:spcPts val="1800"/>
              </a:lnSpc>
              <a:buSzPct val="100000"/>
              <a:buChar char="•"/>
              <a:defRPr sz="1400">
                <a:solidFill>
                  <a:srgbClr val="E6E6E6"/>
                </a:solidFill>
              </a:defRPr>
            </a:pPr>
            <a:r>
              <a:t>Золото не сработало как защита: упало вместе с акциями и облигациями.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 txBox="1"/>
          <p:nvPr>
            <p:ph type="title"/>
          </p:nvPr>
        </p:nvSpPr>
        <p:spPr>
          <a:xfrm>
            <a:off x="812799" y="812800"/>
            <a:ext cx="10883394" cy="472432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b="1"/>
            </a:lvl1pPr>
          </a:lstStyle>
          <a:p>
            <a:pPr/>
            <a:r>
              <a:t>Можно ли было снизить риск ?</a:t>
            </a:r>
          </a:p>
        </p:txBody>
      </p:sp>
      <p:pic>
        <p:nvPicPr>
          <p:cNvPr id="6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2800" y="1488432"/>
            <a:ext cx="4445000" cy="3333751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 1"/>
          <p:cNvSpPr txBox="1"/>
          <p:nvPr/>
        </p:nvSpPr>
        <p:spPr>
          <a:xfrm>
            <a:off x="5653151" y="1488432"/>
            <a:ext cx="5892928" cy="2179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63448" indent="-163448">
              <a:lnSpc>
                <a:spcPts val="1800"/>
              </a:lnSpc>
              <a:buSzPct val="100000"/>
              <a:buChar char="•"/>
              <a:defRPr b="1" sz="1400">
                <a:solidFill>
                  <a:schemeClr val="accent1"/>
                </a:solidFill>
              </a:defRPr>
            </a:pPr>
            <a:r>
              <a:t>Точный момент и глубину предсказать нельзя:</a:t>
            </a:r>
            <a:r>
              <a:rPr b="0">
                <a:solidFill>
                  <a:srgbClr val="E6E6E6"/>
                </a:solidFill>
              </a:rPr>
              <a:t> нефть, техрынок и ликвидация сошлись одновременно.</a:t>
            </a:r>
            <a:endParaRPr>
              <a:solidFill>
                <a:srgbClr val="E6E6E6"/>
              </a:solidFill>
            </a:endParaRPr>
          </a:p>
          <a:p>
            <a:pPr marL="163448" indent="-163448">
              <a:lnSpc>
                <a:spcPts val="1800"/>
              </a:lnSpc>
              <a:buSzPct val="100000"/>
              <a:buChar char="•"/>
              <a:defRPr b="1" sz="1400">
                <a:solidFill>
                  <a:schemeClr val="accent2"/>
                </a:solidFill>
              </a:defRPr>
            </a:pPr>
            <a:r>
              <a:t>Риски были видны:</a:t>
            </a:r>
            <a:r>
              <a:rPr b="0">
                <a:solidFill>
                  <a:srgbClr val="E6E6E6"/>
                </a:solidFill>
              </a:rPr>
              <a:t> рекордное ралли, рост нефти, ожидания жёсткой ФРС, близкое заседание ФРС.</a:t>
            </a:r>
            <a:endParaRPr>
              <a:solidFill>
                <a:srgbClr val="E6E6E6"/>
              </a:solidFill>
            </a:endParaRPr>
          </a:p>
          <a:p>
            <a:pPr marL="163448" indent="-163448">
              <a:lnSpc>
                <a:spcPts val="1800"/>
              </a:lnSpc>
              <a:buSzPct val="100000"/>
              <a:buChar char="•"/>
              <a:defRPr b="1" sz="1400">
                <a:solidFill>
                  <a:srgbClr val="D9A441"/>
                </a:solidFill>
              </a:defRPr>
            </a:pPr>
            <a:r>
              <a:t>Не потерять совсем</a:t>
            </a:r>
            <a:r>
              <a:rPr b="0">
                <a:solidFill>
                  <a:srgbClr val="E6E6E6"/>
                </a:solidFill>
              </a:rPr>
              <a:t> гарантировать нельзя, но убыток можно ограничить: стоп-лосс, малый лот, меньшее плечо.</a:t>
            </a:r>
            <a:endParaRPr>
              <a:solidFill>
                <a:srgbClr val="E6E6E6"/>
              </a:solidFill>
            </a:endParaRPr>
          </a:p>
          <a:p>
            <a:pPr marL="163448" indent="-163448">
              <a:lnSpc>
                <a:spcPts val="1800"/>
              </a:lnSpc>
              <a:buSzPct val="100000"/>
              <a:buChar char="•"/>
              <a:defRPr sz="1400">
                <a:solidFill>
                  <a:srgbClr val="E6E6E6"/>
                </a:solidFill>
              </a:defRPr>
            </a:pPr>
            <a:r>
              <a:t>Не держать крупную позицию через ключевые события, не считать золото защитой в любой ситуации.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 txBox="1"/>
          <p:nvPr>
            <p:ph type="title"/>
          </p:nvPr>
        </p:nvSpPr>
        <p:spPr>
          <a:xfrm>
            <a:off x="812799" y="812800"/>
            <a:ext cx="10883394" cy="472432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b="1"/>
            </a:lvl1pPr>
          </a:lstStyle>
          <a:p>
            <a:pPr/>
            <a:r>
              <a:t>Как защитить торговый счёт</a:t>
            </a:r>
          </a:p>
        </p:txBody>
      </p:sp>
      <p:pic>
        <p:nvPicPr>
          <p:cNvPr id="6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2800" y="1488432"/>
            <a:ext cx="4445000" cy="3333751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Text 1"/>
          <p:cNvSpPr txBox="1"/>
          <p:nvPr/>
        </p:nvSpPr>
        <p:spPr>
          <a:xfrm>
            <a:off x="5639689" y="1488432"/>
            <a:ext cx="5906390" cy="2584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76911" indent="-176911">
              <a:lnSpc>
                <a:spcPts val="2000"/>
              </a:lnSpc>
              <a:buSzPct val="100000"/>
              <a:buChar char="•"/>
              <a:defRPr b="1" sz="1500">
                <a:solidFill>
                  <a:srgbClr val="D9A441"/>
                </a:solidFill>
              </a:defRPr>
            </a:pPr>
            <a:r>
              <a:t>Брокер:</a:t>
            </a:r>
            <a:r>
              <a:rPr b="0">
                <a:solidFill>
                  <a:srgbClr val="E6E6E6"/>
                </a:solidFill>
              </a:rPr>
              <a:t> лицензия регулятора, проверка домена, вывод только на свои реквизиты.</a:t>
            </a:r>
            <a:endParaRPr>
              <a:solidFill>
                <a:srgbClr val="E6E6E6"/>
              </a:solidFill>
            </a:endParaRPr>
          </a:p>
          <a:p>
            <a:pPr marL="176911" indent="-176911">
              <a:lnSpc>
                <a:spcPts val="2000"/>
              </a:lnSpc>
              <a:buSzPct val="100000"/>
              <a:buChar char="•"/>
              <a:defRPr b="1" sz="1500">
                <a:solidFill>
                  <a:srgbClr val="D9A441"/>
                </a:solidFill>
              </a:defRPr>
            </a:pPr>
            <a:r>
              <a:t>Доступ:</a:t>
            </a:r>
            <a:r>
              <a:rPr b="0">
                <a:solidFill>
                  <a:srgbClr val="E6E6E6"/>
                </a:solidFill>
              </a:rPr>
              <a:t> уникальный пароль и 2FA через приложение, а не SMS.</a:t>
            </a:r>
            <a:endParaRPr>
              <a:solidFill>
                <a:srgbClr val="E6E6E6"/>
              </a:solidFill>
            </a:endParaRPr>
          </a:p>
          <a:p>
            <a:pPr marL="176911" indent="-176911">
              <a:lnSpc>
                <a:spcPts val="2000"/>
              </a:lnSpc>
              <a:buSzPct val="100000"/>
              <a:buChar char="•"/>
              <a:defRPr b="1" sz="1500">
                <a:solidFill>
                  <a:srgbClr val="D9A441"/>
                </a:solidFill>
              </a:defRPr>
            </a:pPr>
            <a:r>
              <a:t>Устройство:</a:t>
            </a:r>
            <a:r>
              <a:rPr b="0">
                <a:solidFill>
                  <a:srgbClr val="E6E6E6"/>
                </a:solidFill>
              </a:rPr>
              <a:t> обновлённая система, ПО только с официальных сайтов.</a:t>
            </a:r>
            <a:endParaRPr>
              <a:solidFill>
                <a:srgbClr val="E6E6E6"/>
              </a:solidFill>
            </a:endParaRPr>
          </a:p>
          <a:p>
            <a:pPr marL="176911" indent="-176911">
              <a:lnSpc>
                <a:spcPts val="2000"/>
              </a:lnSpc>
              <a:buSzPct val="100000"/>
              <a:buChar char="•"/>
              <a:defRPr b="1" sz="1500">
                <a:solidFill>
                  <a:srgbClr val="D9A441"/>
                </a:solidFill>
              </a:defRPr>
            </a:pPr>
            <a:r>
              <a:t>Риск:</a:t>
            </a:r>
            <a:r>
              <a:rPr b="0">
                <a:solidFill>
                  <a:srgbClr val="E6E6E6"/>
                </a:solidFill>
              </a:rPr>
              <a:t> лимит на лот, обязательный стоп-лосс, пауза перед важными новостями.</a:t>
            </a:r>
            <a:endParaRPr>
              <a:solidFill>
                <a:srgbClr val="E6E6E6"/>
              </a:solidFill>
            </a:endParaRPr>
          </a:p>
          <a:p>
            <a:pPr marL="176911" indent="-176911">
              <a:lnSpc>
                <a:spcPts val="2000"/>
              </a:lnSpc>
              <a:buSzPct val="100000"/>
              <a:buChar char="•"/>
              <a:defRPr sz="1500">
                <a:solidFill>
                  <a:srgbClr val="E6E6E6"/>
                </a:solidFill>
              </a:defRPr>
            </a:pPr>
            <a:r>
              <a:t>Уведомления о входах и регулярная проверка истории операций.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 txBox="1"/>
          <p:nvPr>
            <p:ph type="title"/>
          </p:nvPr>
        </p:nvSpPr>
        <p:spPr>
          <a:xfrm>
            <a:off x="812799" y="812800"/>
            <a:ext cx="10883394" cy="472432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b="1"/>
            </a:lvl1pPr>
          </a:lstStyle>
          <a:p>
            <a:pPr/>
            <a:r>
              <a:t>XAUUSD и EUR/USD: сравнение</a:t>
            </a:r>
          </a:p>
        </p:txBody>
      </p:sp>
      <p:graphicFrame>
        <p:nvGraphicFramePr>
          <p:cNvPr id="68" name="Table 0"/>
          <p:cNvGraphicFramePr/>
          <p:nvPr/>
        </p:nvGraphicFramePr>
        <p:xfrm>
          <a:off x="824894" y="1500531"/>
          <a:ext cx="5804506" cy="26860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34835"/>
                <a:gridCol w="1934835"/>
                <a:gridCol w="1934835"/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D9A441"/>
                          </a:solidFill>
                        </a:rPr>
                        <a:t>Параметр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5A5B5D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5A5B5D"/>
                      </a:solidFill>
                    </a:lnB>
                    <a:solidFill>
                      <a:srgbClr val="2D2F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D9A441"/>
                          </a:solidFill>
                        </a:rPr>
                        <a:t>EUR/USD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5A5B5D"/>
                      </a:solidFill>
                    </a:lnL>
                    <a:lnR w="12700">
                      <a:solidFill>
                        <a:srgbClr val="5A5B5D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5A5B5D"/>
                      </a:solidFill>
                    </a:lnB>
                    <a:solidFill>
                      <a:srgbClr val="2D2F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D9A441"/>
                          </a:solidFill>
                        </a:rPr>
                        <a:t>XAUUSD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5A5B5D"/>
                      </a:solidFill>
                    </a:lnL>
                    <a:lnR w="12700">
                      <a:solidFill>
                        <a:srgbClr val="5A5B5D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5A5B5D"/>
                      </a:solidFill>
                    </a:lnB>
                    <a:solidFill>
                      <a:srgbClr val="2D2F32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Волатильность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~7% в год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~16% в год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Дневной ход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~0,4–0,6%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~1% и больше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Спред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~0,1–1 пипс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~20–40 центов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Реакция на новости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сильная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очень резкая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Ликвидность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максимальная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E6E6E6"/>
                          </a:solidFill>
                        </a:rPr>
                        <a:t>высокая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34200" y="1488435"/>
            <a:ext cx="4445000" cy="33337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 txBox="1"/>
          <p:nvPr>
            <p:ph type="title"/>
          </p:nvPr>
        </p:nvSpPr>
        <p:spPr>
          <a:xfrm>
            <a:off x="812799" y="812800"/>
            <a:ext cx="10883394" cy="442913"/>
          </a:xfrm>
          <a:prstGeom prst="rect">
            <a:avLst/>
          </a:prstGeom>
        </p:spPr>
        <p:txBody>
          <a:bodyPr/>
          <a:lstStyle>
            <a:lvl1pPr>
              <a:lnSpc>
                <a:spcPts val="3300"/>
              </a:lnSpc>
              <a:defRPr b="1" sz="3000"/>
            </a:lvl1pPr>
          </a:lstStyle>
          <a:p>
            <a:pPr/>
            <a:r>
              <a:t>Оценка потерь: SLE, ARO, ALE</a:t>
            </a:r>
          </a:p>
        </p:txBody>
      </p:sp>
      <p:sp>
        <p:nvSpPr>
          <p:cNvPr id="72" name="Text 1"/>
          <p:cNvSpPr txBox="1"/>
          <p:nvPr/>
        </p:nvSpPr>
        <p:spPr>
          <a:xfrm>
            <a:off x="812799" y="1458912"/>
            <a:ext cx="5991100" cy="487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b="1" sz="1400">
                <a:solidFill>
                  <a:srgbClr val="D9A441"/>
                </a:solidFill>
              </a:defRPr>
            </a:pPr>
            <a:r>
              <a:t>SLE = AV × EF</a:t>
            </a:r>
            <a:r>
              <a:rPr b="0">
                <a:solidFill>
                  <a:srgbClr val="E6E6E6"/>
                </a:solidFill>
              </a:rPr>
              <a:t> (убыток от одного инцидента), </a:t>
            </a:r>
            <a:r>
              <a:t>ALE = SLE × ARO</a:t>
            </a:r>
            <a:r>
              <a:rPr b="0">
                <a:solidFill>
                  <a:srgbClr val="E6E6E6"/>
                </a:solidFill>
              </a:rPr>
              <a:t> (потери за год). Депозит AV = $10 000.</a:t>
            </a:r>
          </a:p>
        </p:txBody>
      </p:sp>
      <p:graphicFrame>
        <p:nvGraphicFramePr>
          <p:cNvPr id="73" name="Table 0"/>
          <p:cNvGraphicFramePr/>
          <p:nvPr/>
        </p:nvGraphicFramePr>
        <p:xfrm>
          <a:off x="824894" y="2072974"/>
          <a:ext cx="5804506" cy="407859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51126"/>
                <a:gridCol w="1451126"/>
                <a:gridCol w="1451126"/>
                <a:gridCol w="1451126"/>
              </a:tblGrid>
              <a:tr h="474360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D9A441"/>
                          </a:solidFill>
                        </a:rPr>
                        <a:t>Угроза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5A5B5D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5A5B5D"/>
                      </a:solidFill>
                    </a:lnB>
                    <a:solidFill>
                      <a:srgbClr val="2D2F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D9A441"/>
                          </a:solidFill>
                        </a:rPr>
                        <a:t>SLE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5A5B5D"/>
                      </a:solidFill>
                    </a:lnL>
                    <a:lnR w="12700">
                      <a:solidFill>
                        <a:srgbClr val="5A5B5D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5A5B5D"/>
                      </a:solidFill>
                    </a:lnB>
                    <a:solidFill>
                      <a:srgbClr val="2D2F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D9A441"/>
                          </a:solidFill>
                        </a:rPr>
                        <a:t>ARO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5A5B5D"/>
                      </a:solidFill>
                    </a:lnL>
                    <a:lnR w="12700">
                      <a:solidFill>
                        <a:srgbClr val="5A5B5D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5A5B5D"/>
                      </a:solidFill>
                    </a:lnB>
                    <a:solidFill>
                      <a:srgbClr val="2D2F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D9A441"/>
                          </a:solidFill>
                        </a:rPr>
                        <a:t>ALE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5A5B5D"/>
                      </a:solidFill>
                    </a:lnL>
                    <a:lnR w="12700">
                      <a:solidFill>
                        <a:srgbClr val="5A5B5D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5A5B5D"/>
                      </a:solidFill>
                    </a:lnB>
                    <a:solidFill>
                      <a:srgbClr val="2D2F32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Взлом счёта (EF 60%)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$6 000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0,2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$1 200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1043290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Слиппедж на новостях (5%)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$500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4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$2 000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1043290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Заражение терминала (30%)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$3 000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0,3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$900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Итого XAUUSD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E6E6E6"/>
                          </a:solidFill>
                        </a:defRPr>
                      </a:pP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E6E6E6"/>
                          </a:solidFill>
                        </a:defRPr>
                      </a:pP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E6E6E6"/>
                          </a:solidFill>
                        </a:rPr>
                        <a:t>$4 100</a:t>
                      </a:r>
                    </a:p>
                  </a:txBody>
                  <a:tcPr marL="88900" marR="88900" marT="88900" marB="88900" anchor="t" anchorCtr="0" horzOverflow="overflow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4C4D50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34200" y="1458912"/>
            <a:ext cx="4445000" cy="33337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 txBox="1"/>
          <p:nvPr>
            <p:ph type="title"/>
          </p:nvPr>
        </p:nvSpPr>
        <p:spPr>
          <a:xfrm>
            <a:off x="812799" y="812800"/>
            <a:ext cx="10883394" cy="472432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b="1"/>
            </a:lvl1pPr>
          </a:lstStyle>
          <a:p>
            <a:pPr/>
            <a:r>
              <a:t>Насколько XAUUSD опаснее</a:t>
            </a:r>
          </a:p>
        </p:txBody>
      </p:sp>
      <p:pic>
        <p:nvPicPr>
          <p:cNvPr id="7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2800" y="1488435"/>
            <a:ext cx="4445000" cy="3333751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Text 1"/>
          <p:cNvSpPr txBox="1"/>
          <p:nvPr/>
        </p:nvSpPr>
        <p:spPr>
          <a:xfrm>
            <a:off x="5653151" y="1488435"/>
            <a:ext cx="5892928" cy="2179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63448" indent="-163448">
              <a:lnSpc>
                <a:spcPts val="1800"/>
              </a:lnSpc>
              <a:buSzPct val="100000"/>
              <a:buChar char="•"/>
              <a:defRPr sz="1400">
                <a:solidFill>
                  <a:srgbClr val="E6E6E6"/>
                </a:solidFill>
              </a:defRPr>
            </a:pPr>
            <a:r>
              <a:t>Золото примерно </a:t>
            </a:r>
            <a:r>
              <a:rPr b="1">
                <a:solidFill>
                  <a:schemeClr val="accent1"/>
                </a:solidFill>
              </a:rPr>
              <a:t>вдвое волатильнее</a:t>
            </a:r>
            <a:r>
              <a:t> EUR/USD: при том же плече риск потери депозита за день выше.</a:t>
            </a:r>
          </a:p>
          <a:p>
            <a:pPr marL="163448" indent="-163448">
              <a:lnSpc>
                <a:spcPts val="1800"/>
              </a:lnSpc>
              <a:buSzPct val="100000"/>
              <a:buChar char="•"/>
              <a:defRPr sz="1400">
                <a:solidFill>
                  <a:srgbClr val="E6E6E6"/>
                </a:solidFill>
              </a:defRPr>
            </a:pPr>
            <a:r>
              <a:t>При плече 1:100 движение против позиции на 0,5% съедает половину депозита, для золота это обычный день.</a:t>
            </a:r>
          </a:p>
          <a:p>
            <a:pPr marL="163448" indent="-163448">
              <a:lnSpc>
                <a:spcPts val="1800"/>
              </a:lnSpc>
              <a:buSzPct val="100000"/>
              <a:buChar char="•"/>
              <a:defRPr sz="1400">
                <a:solidFill>
                  <a:srgbClr val="E6E6E6"/>
                </a:solidFill>
              </a:defRPr>
            </a:pPr>
            <a:r>
              <a:t>Спреды и проскальзывание шире, особенно на новостях.</a:t>
            </a:r>
          </a:p>
          <a:p>
            <a:pPr marL="163448" indent="-163448">
              <a:lnSpc>
                <a:spcPts val="1800"/>
              </a:lnSpc>
              <a:buSzPct val="100000"/>
              <a:buChar char="•"/>
              <a:defRPr sz="1400">
                <a:solidFill>
                  <a:srgbClr val="E6E6E6"/>
                </a:solidFill>
              </a:defRPr>
            </a:pPr>
            <a:r>
              <a:t>Золото чувствительно к геополитике и нефти, EUR/USD чаще движется от макростатистики.</a:t>
            </a:r>
          </a:p>
          <a:p>
            <a:pPr marL="163448" indent="-163448">
              <a:lnSpc>
                <a:spcPts val="1800"/>
              </a:lnSpc>
              <a:buSzPct val="100000"/>
              <a:buChar char="•"/>
              <a:defRPr b="1" sz="1400">
                <a:solidFill>
                  <a:srgbClr val="D9A441"/>
                </a:solidFill>
              </a:defRPr>
            </a:pPr>
            <a:r>
              <a:t>Вывод:</a:t>
            </a:r>
            <a:r>
              <a:rPr b="0">
                <a:solidFill>
                  <a:srgbClr val="E6E6E6"/>
                </a:solidFill>
              </a:rPr>
              <a:t> XAUUSD рискованнее, безопаснее он только при малом плече и жёстком управлении риском.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812799" y="812800"/>
            <a:ext cx="10883394" cy="472432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b="1"/>
            </a:lvl1pPr>
          </a:lstStyle>
          <a:p>
            <a:pPr/>
            <a:r>
              <a:t>Безопасность торговых приложений</a:t>
            </a:r>
          </a:p>
        </p:txBody>
      </p:sp>
      <p:pic>
        <p:nvPicPr>
          <p:cNvPr id="3" name="Image 3" descr="Схема атак на торговое прило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2800" y="1488432"/>
            <a:ext cx="4445000" cy="3333751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5639689" y="1488432"/>
            <a:ext cx="5906390" cy="46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176911" indent="-176911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ru-RU" b="1" sz="1500">
                <a:solidFill>
                  <a:srgbClr val="D9A441"/>
                </a:solidFill>
              </a:rPr>
              <a:t>Слабое звено: человек.</a:t>
            </a:r>
            <a:r>
              <a:rPr lang="ru-RU" b="0" sz="1500">
                <a:solidFill>
                  <a:srgbClr val="E6E6E6"/>
                </a:solidFill>
              </a:rPr>
              <a:t> Robinhood (2021) и Coinbase (2025) пострадали из-за обмана и подкупа сотрудников поддержки.</a:t>
            </a:r>
          </a:p>
          <a:p>
            <a:pPr marL="176911" indent="-176911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ru-RU" b="1" sz="1500">
                <a:solidFill>
                  <a:srgbClr val="D9A441"/>
                </a:solidFill>
              </a:rPr>
              <a:t>Цепочка поставок:</a:t>
            </a:r>
            <a:r>
              <a:rPr lang="ru-RU" b="0" sz="1500">
                <a:solidFill>
                  <a:srgbClr val="E6E6E6"/>
                </a:solidFill>
              </a:rPr>
              <a:t> Bybit потерял $1,5 млрд после взлома разработчика Safe{Wallet}: подменили интерфейс подписи.</a:t>
            </a:r>
          </a:p>
          <a:p>
            <a:pPr marL="176911" indent="-176911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ru-RU" b="1" sz="1500">
                <a:solidFill>
                  <a:srgbClr val="D9A441"/>
                </a:solidFill>
              </a:rPr>
              <a:t>Качество ПО:</a:t>
            </a:r>
            <a:r>
              <a:rPr lang="ru-RU" b="0" sz="1500">
                <a:solidFill>
                  <a:srgbClr val="E6E6E6"/>
                </a:solidFill>
              </a:rPr>
              <a:t> Knight Capital потерял $440 млн за 45 минут из-за ошибки при обновлении торгового софта.</a:t>
            </a:r>
          </a:p>
          <a:p>
            <a:pPr marL="176911" indent="-176911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ru-RU" b="1" sz="1500">
                <a:solidFill>
                  <a:srgbClr val="D9A441"/>
                </a:solidFill>
              </a:rPr>
              <a:t>Вход:</a:t>
            </a:r>
            <a:r>
              <a:rPr lang="ru-RU" b="0" sz="1500">
                <a:solidFill>
                  <a:srgbClr val="E6E6E6"/>
                </a:solidFill>
              </a:rPr>
              <a:t> 2FA через приложение или аппаратный ключ, антифишинговый код, уведомления о входах.</a:t>
            </a:r>
          </a:p>
          <a:p>
            <a:pPr marL="176911" indent="-176911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ru-RU" b="1" sz="1500">
                <a:solidFill>
                  <a:srgbClr val="D9A441"/>
                </a:solidFill>
              </a:rPr>
              <a:t>Средства:</a:t>
            </a:r>
            <a:r>
              <a:rPr lang="ru-RU" b="0" sz="1500">
                <a:solidFill>
                  <a:srgbClr val="E6E6E6"/>
                </a:solidFill>
              </a:rPr>
              <a:t> не хранить всё на бирже, белый список адресов вывода, сверка реквизитов на втором устройстве.</a:t>
            </a:r>
          </a:p>
          <a:p>
            <a:pPr marL="176911" indent="-176911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ru-RU" b="1" sz="1500">
                <a:solidFill>
                  <a:srgbClr val="D9A441"/>
                </a:solidFill>
              </a:rPr>
              <a:t>API и приложение:</a:t>
            </a:r>
            <a:r>
              <a:rPr lang="ru-RU" b="0" sz="1500">
                <a:solidFill>
                  <a:srgbClr val="E6E6E6"/>
                </a:solidFill>
              </a:rPr>
              <a:t> ключи без права вывода и с привязкой к IP, установка только из официальных магазинов.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812799" y="812800"/>
            <a:ext cx="10883394" cy="472432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b="1"/>
            </a:lvl1pPr>
          </a:lstStyle>
          <a:p>
            <a:pPr/>
            <a:r>
              <a:t>Известные взломы и потери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824894" y="1500527"/>
          <a:ext cx="6800000" cy="3760000"/>
        </p:xfrm>
        <a:graphic>
          <a:graphicData uri="http://schemas.openxmlformats.org/drawingml/2006/table">
            <a:tbl>
              <a:tblPr firstRow="0" bandRow="0">
                <a:tableStyleId>{4C3C2611-4C71-4FC5-86AE-919BDF0F9419}</a:tableStyleId>
              </a:tblPr>
              <a:tblGrid>
                <a:gridCol w="600000"/>
                <a:gridCol w="1450000"/>
                <a:gridCol w="3150000"/>
                <a:gridCol w="16000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b="1" sz="1300">
                          <a:solidFill>
                            <a:srgbClr val="D9A441"/>
                          </a:solidFill>
                        </a:rPr>
                        <a:t>Год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solidFill>
                      <a:srgbClr val="2D2F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sz="1300">
                          <a:solidFill>
                            <a:srgbClr val="D9A441"/>
                          </a:solidFill>
                        </a:rPr>
                        <a:t>Платформа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solidFill>
                      <a:srgbClr val="2D2F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sz="1300">
                          <a:solidFill>
                            <a:srgbClr val="D9A441"/>
                          </a:solidFill>
                        </a:rPr>
                        <a:t>Что произошло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solidFill>
                      <a:srgbClr val="2D2F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sz="1300">
                          <a:solidFill>
                            <a:srgbClr val="D9A441"/>
                          </a:solidFill>
                        </a:rPr>
                        <a:t>Потери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solidFill>
                      <a:srgbClr val="2D2F32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2012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Knight Capital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Сбой при обновлении ПО, не взлом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sz="1300">
                          <a:solidFill>
                            <a:srgbClr val="E05555"/>
                          </a:solidFill>
                        </a:rPr>
                        <a:t>$440 млн за 45 минут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2014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Mt. Gox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Кража биткоинов с биржи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sz="1300">
                          <a:solidFill>
                            <a:srgbClr val="E05555"/>
                          </a:solidFill>
                        </a:rPr>
                        <a:t>около 850 000 BTC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2020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Robinhood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Захват около 2 000 счетов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sz="1300">
                          <a:solidFill>
                            <a:srgbClr val="E05555"/>
                          </a:solidFill>
                        </a:rPr>
                        <a:t>средства клиентов украдены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2021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Robinhood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Обман поддержки, утечка данных 7 млн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sz="1300">
                          <a:solidFill>
                            <a:srgbClr val="E05555"/>
                          </a:solidFill>
                        </a:rPr>
                        <a:t>прямых потерь нет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2025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Coinbase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Подкуп сотрудников поддержки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sz="1300">
                          <a:solidFill>
                            <a:srgbClr val="E05555"/>
                          </a:solidFill>
                        </a:rPr>
                        <a:t>$180–400 млн издержек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2025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Bybit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sz="1300">
                          <a:solidFill>
                            <a:srgbClr val="E6E6E6"/>
                          </a:solidFill>
                        </a:rPr>
                        <a:t>Взлом через разработчика Safe{Wallet}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sz="1300">
                          <a:solidFill>
                            <a:srgbClr val="E05555"/>
                          </a:solidFill>
                        </a:rPr>
                        <a:t>$1,5 млрд в ETH</a:t>
                      </a:r>
                    </a:p>
                  </a:txBody>
                  <a:tcPr marL="73000" marR="73000" marT="64000" marB="64000" anchor="t">
                    <a:lnL w="12700">
                      <a:solidFill>
                        <a:srgbClr val="4C4D50"/>
                      </a:solidFill>
                    </a:lnL>
                    <a:lnR w="12700">
                      <a:solidFill>
                        <a:srgbClr val="4C4D50"/>
                      </a:solidFill>
                    </a:lnR>
                    <a:lnT w="12700">
                      <a:solidFill>
                        <a:srgbClr val="5A5B5D"/>
                      </a:solidFill>
                    </a:lnT>
                    <a:lnB w="12700">
                      <a:solidFill>
                        <a:srgbClr val="4C4D50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Image 4" descr="Диаграмма ущерба от крупных случаев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00000" y="1500527"/>
            <a:ext cx="3480000" cy="261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12799" y="5650000"/>
            <a:ext cx="10570000" cy="6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ts val="2000"/>
              </a:lnSpc>
            </a:pPr>
            <a:r>
              <a:rPr lang="ru-RU" b="1" sz="1500">
                <a:solidFill>
                  <a:srgbClr val="D9A441"/>
                </a:solidFill>
              </a:rPr>
              <a:t>Вывод:</a:t>
            </a:r>
            <a:r>
              <a:rPr lang="ru-RU" b="0" sz="1500">
                <a:solidFill>
                  <a:srgbClr val="E6E6E6"/>
                </a:solidFill>
              </a:rPr>
              <a:t> слабым местом чаще оказывались люди, подрядчики и качество ПО, а не шифрование.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12799" y="6250000"/>
            <a:ext cx="10570000" cy="3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ts val="1400"/>
              </a:lnSpc>
            </a:pPr>
            <a:r>
              <a:rPr lang="ru-RU" b="0" sz="1100">
                <a:solidFill>
                  <a:srgbClr val="8A8F96"/>
                </a:solidFill>
              </a:rPr>
              <a:t>Данные компаний и СМИ (BleepingComputer, Fortune, The Register, The Block). Суммы приблизительные.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Информационная безопасность в финансах: торговля XAUUSD">
  <a:themeElements>
    <a:clrScheme name="Информационная безопасность в финансах: торговля XAUUSD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E05555"/>
      </a:accent1>
      <a:accent2>
        <a:srgbClr val="3FAE6A"/>
      </a:accent2>
      <a:accent3>
        <a:srgbClr val="8A8F96"/>
      </a:accent3>
      <a:accent4>
        <a:srgbClr val="B8BCC2"/>
      </a:accent4>
      <a:accent5>
        <a:srgbClr val="9AA0A6"/>
      </a:accent5>
      <a:accent6>
        <a:srgbClr val="959697"/>
      </a:accent6>
      <a:hlink>
        <a:srgbClr val="0000FF"/>
      </a:hlink>
      <a:folHlink>
        <a:srgbClr val="FF00FF"/>
      </a:folHlink>
    </a:clrScheme>
    <a:fontScheme name="Информационная безопасность в финансах: торговля XAUUSD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Информационная безопасность в финансах: торговля XAUUS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6E6E6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Информационная безопасность в финансах: торговля XAUUSD">
  <a:themeElements>
    <a:clrScheme name="Информационная безопасность в финансах: торговля XAUUSD">
      <a:dk1>
        <a:srgbClr val="000000"/>
      </a:dk1>
      <a:lt1>
        <a:srgbClr val="211806"/>
      </a:lt1>
      <a:dk2>
        <a:srgbClr val="A7A7A7"/>
      </a:dk2>
      <a:lt2>
        <a:srgbClr val="535353"/>
      </a:lt2>
      <a:accent1>
        <a:srgbClr val="E05555"/>
      </a:accent1>
      <a:accent2>
        <a:srgbClr val="3FAE6A"/>
      </a:accent2>
      <a:accent3>
        <a:srgbClr val="8A8F96"/>
      </a:accent3>
      <a:accent4>
        <a:srgbClr val="B8BCC2"/>
      </a:accent4>
      <a:accent5>
        <a:srgbClr val="9AA0A6"/>
      </a:accent5>
      <a:accent6>
        <a:srgbClr val="959697"/>
      </a:accent6>
      <a:hlink>
        <a:srgbClr val="0000FF"/>
      </a:hlink>
      <a:folHlink>
        <a:srgbClr val="FF00FF"/>
      </a:folHlink>
    </a:clrScheme>
    <a:fontScheme name="Информационная безопасность в финансах: торговля XAUUSD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Информационная безопасность в финансах: торговля XAUUS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6E6E6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